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41949feb-5ddc-d954-f60d-7e4ebe38c63c}">
          <p14:sldIdLst>
            <p14:sldId id="256"/>
          </p14:sldIdLst>
        </p14:section>
        <p14:section name="Escenario" id="{96b418e2-826c-6113-0059-a677eb5d064e}">
          <p14:sldIdLst>
            <p14:sldId id="257"/>
            <p14:sldId id="258"/>
            <p14:sldId id="259"/>
          </p14:sldIdLst>
        </p14:section>
        <p14:section name="Prueba de fuego" id="{50f612da-594a-7fd4-3e2c-37f731d071e2}">
          <p14:sldIdLst>
            <p14:sldId id="260"/>
            <p14:sldId id="261"/>
            <p14:sldId id="262"/>
          </p14:sldIdLst>
        </p14:section>
        <p14:section name="Producto y técnica" id="{e6d98807-c819-8faa-35d1-fab802f29dd8}">
          <p14:sldIdLst>
            <p14:sldId id="263"/>
            <p14:sldId id="264"/>
          </p14:sldIdLst>
        </p14:section>
        <p14:section name="Cierre" id="{fd165244-4e6f-0931-a378-febded8ec00a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B7A9C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B7A9C6"/>
                </a:solidFill>
                <a:latin typeface="+mn-lt"/>
              </a:rPr>
              <a:t>Personas mordidas en 120 días (promedio)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Personas mordidas</c:v>
                </c:pt>
              </c:strCache>
            </c:strRef>
          </c:tx>
          <c:spPr>
            <a:solidFill>
              <a:srgbClr val="FF5A5F"/>
            </a:solidFill>
            <a:effectLst/>
          </c:spPr>
          <c:invertIfNegative val="0"/>
          <c:dLbls>
            <c:numFmt formatCode="[&gt;=1000]#&quot;.&quot;###;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F3EAD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5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C24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F06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Sin hacer nada</c:v>
                  </c:pt>
                  <c:pt idx="1">
                    <c:v>Al azar, mismos recursos</c:v>
                  </c:pt>
                  <c:pt idx="2">
                    <c:v>Plan del Comité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79178</c:v>
                </c:pt>
                <c:pt idx="1">
                  <c:v>71222</c:v>
                </c:pt>
                <c:pt idx="2">
                  <c:v>767</c:v>
                </c:pt>
              </c:numCache>
            </c:numRef>
          </c:val>
        </c:ser>
        <c:dLbls>
          <c:numFmt formatCode="[&gt;=1000]#&quot;.&quot;###;0" sourceLinked="0"/>
          <c:txPr>
            <a:bodyPr/>
            <a:lstStyle/>
            <a:p>
              <a:pPr>
                <a:defRPr b="1" i="0" strike="noStrike" sz="1600" u="none">
                  <a:solidFill>
                    <a:srgbClr val="F3EAD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3EAD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Somos el equipo Natossi y construimos el Comité de Contención: una herramienta que simula cómo se propaga una plaga en Manta y le dice a la ciudad qué hacer, dónde y cuándo, con vacunas y dinero limitados. Les vamos a mostrar el escenario, la estrategia, los números contra las dos líneas base y el Brote Sorpresa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reto: una plaga empieza con un caso en el mercado de Tarqui y se contagia en la casa, el bus, el colegio y el mercado. Si nadie hace nada, en 120 días terminan mordidas 79.178 personas. No alcanzan las vacunas y no se puede cerrar toda la ciudad, así que hay que decidir bien dónde poner cada recurso.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Elegimos una plaga que se contagia como una gripe fuerte. La población es Manta real: 258.697 habitantes según el INEC, representados por 10.000 personas simuladas con casa, colegio, trabajo, bus y mercado en las cinco parroquias urbanas. El modelo es SEIR basado en agentes, día a día. Los recursos son 2.500 vacunas por día y 300 mil dólares. Cada número tiene su fuente en el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estrategia funciona como un comité real: solo ve los casos que se reportan, aísla la casa de cada caso, vacuna primero a su entorno y cierra un mercado o un colegio solo en la parroquia donde hace falta. Combina estas piezas en 21 planes, simula cada uno y se queda con el que deja menos mordidos al menor costo. Nunca vacuna a alguien infectado o inmune, que es uno de los errores que el jurado pide evitar.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los números con los valores por defecto: 200 simulaciones con la semilla 2026. Sin hacer nada, 79.178 mordidos. Repartiendo exactamente los mismos recursos al azar, 71.222. Con el plan del Comité, 767. Son 78.411 personas a salvo. Y no es suerte de una corrida: en el 94 % de los brotes que despegan el plan le gana al azar. El jurado puede poner su propia semilla en la app y comprobarlo.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Brote Sorpresa la app tiene seis botones: doble de contagio, mitad de vacunas, otro mercado, vacuna que cubre a medias, diez días tarde y mitad del presupuesto. Al pulsar uno, el Comité vuelve a probar los planes y explica qué cambió. En la tabla ven que gana en todos los casos. En el peor, todo junto, todavía gana, pero pierde en el 31 % de los brotes, y preferimos decirlo.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que no sea suerte: misma configuración y misma semilla dan exactamente el mismo resultado, en el navegador y en AWS. Corremos 200 simulaciones por escenario y mostramos el promedio y el rango. El motor lo calibramos con los casos reales de dengue de Manabí 2024 del Ministerio de Salud: sigue la curva real con un R² de 0,873, que es lo que ven en el gráfico. Y tiene 23 pruebas automáticas.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persona del municipio lo usa sin explicación: elige el brote, pulsa Calcular y ve el plan. Puede mirar el barrio de cerca con sus vecinos, el mapa real de Manta con las tres estrategias lado a lado, la curva día a día y un informe para la alcaldía en lenguaje simple. Hay tres brotes listos: la plaga zombi, una gripe fuerte y el dengue de Manabí.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es serverless en us-east-1: la web va por CloudFront desde un S3 privado, y las simulaciones corren en Lambda, ocho en paralelo, detrás de API Gateway. Los resultados se guardan en caché en S3. Una consulta de 200 simulaciones cuesta una décima de centavo; un mes con mil consultas, unos 90 centavos. Durante el evento gastamos cero dólares, como muestra el Budget con alerta. No hay llaves en el código y cada función tiene solo los permisos que necesita.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el plan del Comité, Manta sigue en pie. El mismo motor sirve para dengue, gripe o incluso desinformación, cambiando datos y no código. Ahora les toca a ustedes: elijan una semilla y un Brote Sorpresa y lo corremos en vivo.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4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14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Comité de Contención · SpookyThon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hía de Manta de noche" descr="/private/tmp/claude-501/-Volumes-CORSAIR-PRINCIPAL-PROYECTOS-PROGRAMACION-Claude-Hackathon-La-plaga-zombie/93a389af-56dd-4742-abd4-b859468bdfc2/scratchpad/pitch/1_bahia_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ombra sobre la fot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Logo" descr="/private/tmp/claude-501/-Volumes-CORSAIR-PRINCIPAL-PROYECTOS-PROGRAMACION-Claude-Hackathon-La-plaga-zombie/93a389af-56dd-4742-abd4-b859468bdfc2/scratchpad/pitch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188720" cy="1188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31520" y="2560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SPOOKYTHON 2026 · TRACK B · LA PLAGA ZOMBIE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2971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Comité de Contención</a:t>
            </a:r>
            <a:endParaRPr lang="en-US" sz="60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4114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Qué hacer, dónde y cuándo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para frenar una plaga en Manta con recursos limitados.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Equipo Natossi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EL PROBLEMA</a:t>
            </a:r>
            <a:endParaRPr lang="en-US" sz="1300" dirty="0"/>
          </a:p>
        </p:txBody>
      </p:sp>
      <p:sp>
        <p:nvSpPr>
          <p:cNvPr id="3" name="Título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Empieza con una mordida en Tarqui</a:t>
            </a:r>
            <a:endParaRPr lang="en-US" sz="3600" dirty="0"/>
          </a:p>
        </p:txBody>
      </p:sp>
      <p:pic>
        <p:nvPicPr>
          <p:cNvPr id="4" name="Mercado de Tarqui de noche" descr="/private/tmp/claude-501/-Volumes-CORSAIR-PRINCIPAL-PROYECTOS-PROGRAMACION-Claude-Hackathon-La-plaga-zombie/93a389af-56dd-4742-abd4-b859468bdfc2/scratchpad/pitch/2_mercado_s.jpg">    </p:cNvPr>
          <p:cNvPicPr>
            <a:picLocks noChangeAspect="1"/>
          </p:cNvPicPr>
          <p:nvPr/>
        </p:nvPicPr>
        <p:blipFill>
          <a:blip r:embed="rId1"/>
          <a:srcRect l="13316" r="13316" t="0" b="0"/>
          <a:stretch/>
        </p:blipFill>
        <p:spPr>
          <a:xfrm>
            <a:off x="548640" y="1828800"/>
            <a:ext cx="548640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83680" y="18288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79.178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30175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personas mordidas en 120 días si nadie hace nada</a:t>
            </a:r>
            <a:endParaRPr lang="en-US" sz="1800" dirty="0"/>
          </a:p>
        </p:txBody>
      </p:sp>
      <p:sp>
        <p:nvSpPr>
          <p:cNvPr id="7" name="Casa círculo"/>
          <p:cNvSpPr/>
          <p:nvPr/>
        </p:nvSpPr>
        <p:spPr>
          <a:xfrm>
            <a:off x="6583680" y="4160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Casa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4297680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0" y="480060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Casa</a:t>
            </a:r>
            <a:endParaRPr lang="en-US" sz="1400" dirty="0"/>
          </a:p>
        </p:txBody>
      </p:sp>
      <p:sp>
        <p:nvSpPr>
          <p:cNvPr id="10" name="Bus círculo"/>
          <p:cNvSpPr/>
          <p:nvPr/>
        </p:nvSpPr>
        <p:spPr>
          <a:xfrm>
            <a:off x="7863840" y="4160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Bus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29768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680960" y="480060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</a:t>
            </a:r>
            <a:endParaRPr lang="en-US" sz="1400" dirty="0"/>
          </a:p>
        </p:txBody>
      </p:sp>
      <p:sp>
        <p:nvSpPr>
          <p:cNvPr id="13" name="Colegio círculo"/>
          <p:cNvSpPr/>
          <p:nvPr/>
        </p:nvSpPr>
        <p:spPr>
          <a:xfrm>
            <a:off x="9144000" y="4160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Colegio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429768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61120" y="480060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Colegio</a:t>
            </a:r>
            <a:endParaRPr lang="en-US" sz="1400" dirty="0"/>
          </a:p>
        </p:txBody>
      </p:sp>
      <p:sp>
        <p:nvSpPr>
          <p:cNvPr id="16" name="Mercado círculo"/>
          <p:cNvSpPr/>
          <p:nvPr/>
        </p:nvSpPr>
        <p:spPr>
          <a:xfrm>
            <a:off x="10424160" y="4160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Mercado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4297680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241280" y="480060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Mercado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6583680" y="5440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No hay vacunas para todos y no se puede cerrar la ciudad.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NUESTRO ESCENARIO</a:t>
            </a:r>
            <a:endParaRPr lang="en-US" sz="1300" dirty="0"/>
          </a:p>
        </p:txBody>
      </p:sp>
      <p:sp>
        <p:nvSpPr>
          <p:cNvPr id="3" name="Título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Manta, persona por persona</a:t>
            </a:r>
            <a:endParaRPr lang="en-US" sz="3600" dirty="0"/>
          </a:p>
        </p:txBody>
      </p:sp>
      <p:sp>
        <p:nvSpPr>
          <p:cNvPr id="4" name="La plaga"/>
          <p:cNvSpPr/>
          <p:nvPr/>
        </p:nvSpPr>
        <p:spPr>
          <a:xfrm>
            <a:off x="548640" y="1828800"/>
            <a:ext cx="288036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a plaga círculo"/>
          <p:cNvSpPr/>
          <p:nvPr/>
        </p:nvSpPr>
        <p:spPr>
          <a:xfrm>
            <a:off x="777240" y="20574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La plaga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 plaga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Contagia como una gripe fuerte (R0 1,8). 1–3 días incubando, 4–6 contagiando.</a:t>
            </a:r>
            <a:endParaRPr lang="en-US" sz="1300" dirty="0"/>
          </a:p>
        </p:txBody>
      </p:sp>
      <p:sp>
        <p:nvSpPr>
          <p:cNvPr id="9" name="La población"/>
          <p:cNvSpPr/>
          <p:nvPr/>
        </p:nvSpPr>
        <p:spPr>
          <a:xfrm>
            <a:off x="3611880" y="1828800"/>
            <a:ext cx="288036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a población círculo"/>
          <p:cNvSpPr/>
          <p:nvPr/>
        </p:nvSpPr>
        <p:spPr>
          <a:xfrm>
            <a:off x="3840480" y="20574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La población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 población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840480" y="27432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258.697 habitantes (INEC) en 10.000 personas simuladas: hogares, colegios, trabajos, buses y mercados.</a:t>
            </a:r>
            <a:endParaRPr lang="en-US" sz="1300" dirty="0"/>
          </a:p>
        </p:txBody>
      </p:sp>
      <p:sp>
        <p:nvSpPr>
          <p:cNvPr id="14" name="El modelo"/>
          <p:cNvSpPr/>
          <p:nvPr/>
        </p:nvSpPr>
        <p:spPr>
          <a:xfrm>
            <a:off x="548640" y="3977640"/>
            <a:ext cx="288036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El modelo círculo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El modelo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4340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 modelo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48920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SEIR basado en agentes, día a día, en las 5 parroquias urbanas.</a:t>
            </a:r>
            <a:endParaRPr lang="en-US" sz="1300" dirty="0"/>
          </a:p>
        </p:txBody>
      </p:sp>
      <p:sp>
        <p:nvSpPr>
          <p:cNvPr id="19" name="Los recursos"/>
          <p:cNvSpPr/>
          <p:nvPr/>
        </p:nvSpPr>
        <p:spPr>
          <a:xfrm>
            <a:off x="3611880" y="3977640"/>
            <a:ext cx="288036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os recursos círculo"/>
          <p:cNvSpPr/>
          <p:nvPr/>
        </p:nvSpPr>
        <p:spPr>
          <a:xfrm>
            <a:off x="3840480" y="42062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Los recursos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434340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52628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Los recursos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3840480" y="48920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2.500 vacunas por día y USD 300.000 para cuarentenas y cierres.</a:t>
            </a:r>
            <a:endParaRPr lang="en-US" sz="1300" dirty="0"/>
          </a:p>
        </p:txBody>
      </p:sp>
      <p:pic>
        <p:nvPicPr>
          <p:cNvPr id="24" name="Mapa real de Manta con la simulación" descr="/private/tmp/claude-501/-Volumes-CORSAIR-PRINCIPAL-PROYECTOS-PROGRAMACION-Claude-Hackathon-La-plaga-zombie/93a389af-56dd-4742-abd4-b859468bdfc2/scratchpad/pitch/mapa_c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828800"/>
            <a:ext cx="4754880" cy="35661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858000" y="5532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Cada supuesto y su fuente están en el README.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ESTRATEGIA</a:t>
            </a:r>
            <a:endParaRPr lang="en-US" sz="1300" dirty="0"/>
          </a:p>
        </p:txBody>
      </p:sp>
      <p:sp>
        <p:nvSpPr>
          <p:cNvPr id="3" name="Título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Comité prueba 21 planes y elige el mejor</a:t>
            </a:r>
            <a:endParaRPr lang="en-US" sz="3600" dirty="0"/>
          </a:p>
        </p:txBody>
      </p:sp>
      <p:sp>
        <p:nvSpPr>
          <p:cNvPr id="4" name="Ver"/>
          <p:cNvSpPr/>
          <p:nvPr/>
        </p:nvSpPr>
        <p:spPr>
          <a:xfrm>
            <a:off x="548640" y="19202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Ver círculo"/>
          <p:cNvSpPr/>
          <p:nvPr/>
        </p:nvSpPr>
        <p:spPr>
          <a:xfrm>
            <a:off x="2331720" y="2148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Ver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22860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Ver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los casos que se reportan</a:t>
            </a:r>
            <a:endParaRPr lang="en-US" sz="1400" dirty="0"/>
          </a:p>
        </p:txBody>
      </p:sp>
      <p:pic>
        <p:nvPicPr>
          <p:cNvPr id="10" name="flech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3108960"/>
            <a:ext cx="182880" cy="274320"/>
          </a:xfrm>
          <a:prstGeom prst="rect">
            <a:avLst/>
          </a:prstGeom>
        </p:spPr>
      </p:pic>
      <p:sp>
        <p:nvSpPr>
          <p:cNvPr id="11" name="Aislar"/>
          <p:cNvSpPr/>
          <p:nvPr/>
        </p:nvSpPr>
        <p:spPr>
          <a:xfrm>
            <a:off x="3383280" y="19202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1188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Aislar círculo"/>
          <p:cNvSpPr/>
          <p:nvPr/>
        </p:nvSpPr>
        <p:spPr>
          <a:xfrm>
            <a:off x="5166360" y="2148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Aislar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28600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61188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Aislar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361188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casa de cada caso</a:t>
            </a:r>
            <a:endParaRPr lang="en-US" sz="1400" dirty="0"/>
          </a:p>
        </p:txBody>
      </p:sp>
      <p:pic>
        <p:nvPicPr>
          <p:cNvPr id="17" name="flech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3108960"/>
            <a:ext cx="182880" cy="274320"/>
          </a:xfrm>
          <a:prstGeom prst="rect">
            <a:avLst/>
          </a:prstGeom>
        </p:spPr>
      </p:pic>
      <p:sp>
        <p:nvSpPr>
          <p:cNvPr id="18" name="Vacunar"/>
          <p:cNvSpPr/>
          <p:nvPr/>
        </p:nvSpPr>
        <p:spPr>
          <a:xfrm>
            <a:off x="6217920" y="19202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44652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4000" dirty="0"/>
          </a:p>
        </p:txBody>
      </p:sp>
      <p:sp>
        <p:nvSpPr>
          <p:cNvPr id="20" name="Vacunar círculo"/>
          <p:cNvSpPr/>
          <p:nvPr/>
        </p:nvSpPr>
        <p:spPr>
          <a:xfrm>
            <a:off x="8001000" y="2148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Vacunar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28600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4652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Vacunar</a:t>
            </a:r>
            <a:endParaRPr lang="en-US" sz="2200" dirty="0"/>
          </a:p>
        </p:txBody>
      </p:sp>
      <p:sp>
        <p:nvSpPr>
          <p:cNvPr id="23" name="Text 16"/>
          <p:cNvSpPr txBox="1"/>
          <p:nvPr/>
        </p:nvSpPr>
        <p:spPr>
          <a:xfrm>
            <a:off x="644652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Primero el entorno del caso</a:t>
            </a:r>
            <a:endParaRPr lang="en-US" sz="1400" dirty="0"/>
          </a:p>
        </p:txBody>
      </p:sp>
      <p:pic>
        <p:nvPicPr>
          <p:cNvPr id="24" name="flech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2" y="3108960"/>
            <a:ext cx="182880" cy="274320"/>
          </a:xfrm>
          <a:prstGeom prst="rect">
            <a:avLst/>
          </a:prstGeom>
        </p:spPr>
      </p:pic>
      <p:sp>
        <p:nvSpPr>
          <p:cNvPr id="25" name="Cerrar"/>
          <p:cNvSpPr/>
          <p:nvPr/>
        </p:nvSpPr>
        <p:spPr>
          <a:xfrm>
            <a:off x="9052560" y="19202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928116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4000" dirty="0"/>
          </a:p>
        </p:txBody>
      </p:sp>
      <p:sp>
        <p:nvSpPr>
          <p:cNvPr id="27" name="Cerrar círculo"/>
          <p:cNvSpPr/>
          <p:nvPr/>
        </p:nvSpPr>
        <p:spPr>
          <a:xfrm>
            <a:off x="10835640" y="2148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Cerrar í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0" y="2286000"/>
            <a:ext cx="292608" cy="29260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28116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Cerrar</a:t>
            </a:r>
            <a:endParaRPr lang="en-US" sz="2200" dirty="0"/>
          </a:p>
        </p:txBody>
      </p:sp>
      <p:sp>
        <p:nvSpPr>
          <p:cNvPr id="30" name="Text 21"/>
          <p:cNvSpPr txBox="1"/>
          <p:nvPr/>
        </p:nvSpPr>
        <p:spPr>
          <a:xfrm>
            <a:off x="928116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Mercado o colegio, solo en la parroquia que lo necesita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548640" y="4983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Nunca vacuna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a quien ya está infectado o es inmune. Cada plan se simula y gana el que deja menos mordidos al menor costo.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RESULTADOS · 200 SIMULACIONES · SEMILLA 2026</a:t>
            </a:r>
            <a:endParaRPr lang="en-US" sz="1300" dirty="0"/>
          </a:p>
        </p:txBody>
      </p:sp>
      <p:sp>
        <p:nvSpPr>
          <p:cNvPr id="3" name="Título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Contra no hacer nada y contra el azar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46720" y="1920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94 %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3017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 los brotes que despegan, el plan le gana al azar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4023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78.411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46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personas a salvo frente a no hacer nada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BROTE SORPRESA</a:t>
            </a:r>
            <a:endParaRPr lang="en-US" sz="1300" dirty="0"/>
          </a:p>
        </p:txBody>
      </p:sp>
      <p:sp>
        <p:nvSpPr>
          <p:cNvPr id="3" name="Título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Cambian las reglas y el plan se adapta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6809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25880"/>
                <a:gridCol w="1143000"/>
                <a:gridCol w="1097280"/>
                <a:gridCol w="10972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Condición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Sin hacer nada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Al azar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Comité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Gana al azar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Doble de contagio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206.172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198.179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109.259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89 %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Mitad de las vacunas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79.178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69.212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239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96 %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Empieza en un colegio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110.549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98.706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2.973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100 %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 vacuna cubre a medias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79.178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71.057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293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94 %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El Comité llega 10 días tarde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79.178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71.209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4.522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100 %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Todo junto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206.172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203.223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165.641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67 %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Botones círculo"/>
          <p:cNvSpPr/>
          <p:nvPr/>
        </p:nvSpPr>
        <p:spPr>
          <a:xfrm>
            <a:off x="8686800" y="18288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Botones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1965960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41832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6 botones en la app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2606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jurado elige la condición y el Comité recalcula en segundos, con la explicación de qué cambió.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686800" y="42062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En el peor caso todavía gana, pero pierde en el 31 % de los brotes. Lo mostramos tal cual.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RIGOR</a:t>
            </a:r>
            <a:endParaRPr lang="en-US" sz="1300" dirty="0"/>
          </a:p>
        </p:txBody>
      </p:sp>
      <p:sp>
        <p:nvSpPr>
          <p:cNvPr id="3" name="Título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Reproducible y comparado con datos reales</a:t>
            </a:r>
            <a:endParaRPr lang="en-US" sz="3600" dirty="0"/>
          </a:p>
        </p:txBody>
      </p:sp>
      <p:sp>
        <p:nvSpPr>
          <p:cNvPr id="4" name="Dato 2026"/>
          <p:cNvSpPr/>
          <p:nvPr/>
        </p:nvSpPr>
        <p:spPr>
          <a:xfrm>
            <a:off x="548640" y="18288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2026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Misma configuración y misma semilla = mismo resultado, en el navegador y en AWS</a:t>
            </a:r>
            <a:endParaRPr lang="en-US" sz="1300" dirty="0"/>
          </a:p>
        </p:txBody>
      </p:sp>
      <p:sp>
        <p:nvSpPr>
          <p:cNvPr id="7" name="Dato 200"/>
          <p:cNvSpPr/>
          <p:nvPr/>
        </p:nvSpPr>
        <p:spPr>
          <a:xfrm>
            <a:off x="3337560" y="18288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2011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200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simulaciones por escenario, con promedio y rango del 5 % al 95 %</a:t>
            </a:r>
            <a:endParaRPr lang="en-US" sz="1300" dirty="0"/>
          </a:p>
        </p:txBody>
      </p:sp>
      <p:sp>
        <p:nvSpPr>
          <p:cNvPr id="10" name="Dato 0,873"/>
          <p:cNvSpPr/>
          <p:nvPr/>
        </p:nvSpPr>
        <p:spPr>
          <a:xfrm>
            <a:off x="548640" y="402336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206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0,873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029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R² contra los casos de dengue de Manabí 2024 (Ministerio de Salud Pública)</a:t>
            </a:r>
            <a:endParaRPr lang="en-US" sz="1300" dirty="0"/>
          </a:p>
        </p:txBody>
      </p:sp>
      <p:sp>
        <p:nvSpPr>
          <p:cNvPr id="13" name="Dato 23"/>
          <p:cNvSpPr/>
          <p:nvPr/>
        </p:nvSpPr>
        <p:spPr>
          <a:xfrm>
            <a:off x="3337560" y="402336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4206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23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5029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pruebas automáticas del motor</a:t>
            </a:r>
            <a:endParaRPr lang="en-US" sz="1300" dirty="0"/>
          </a:p>
        </p:txBody>
      </p:sp>
      <p:pic>
        <p:nvPicPr>
          <p:cNvPr id="16" name="Curva de dengue: datos reales contra el motor" descr="/private/tmp/claude-501/-Volumes-CORSAIR-PRINCIPAL-PROYECTOS-PROGRAMACION-Claude-Hackathon-La-plaga-zombie/93a389af-56dd-4742-abd4-b859468bdfc2/scratchpad/pitch/curva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828800"/>
            <a:ext cx="2907792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PRODUCTO</a:t>
            </a:r>
            <a:endParaRPr lang="en-US" sz="1300" dirty="0"/>
          </a:p>
        </p:txBody>
      </p:sp>
      <p:sp>
        <p:nvSpPr>
          <p:cNvPr id="3" name="Título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 usa sin explicación</a:t>
            </a:r>
            <a:endParaRPr lang="en-US" sz="3600" dirty="0"/>
          </a:p>
        </p:txBody>
      </p:sp>
      <p:pic>
        <p:nvPicPr>
          <p:cNvPr id="4" name="Vista del barrio" descr="/private/tmp/claude-501/-Volumes-CORSAIR-PRINCIPAL-PROYECTOS-PROGRAMACION-Claude-Hackathon-La-plaga-zombie/93a389af-56dd-4742-abd4-b859468bdfc2/scratchpad/pitch/barr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86400" cy="3086100"/>
          </a:xfrm>
          <a:prstGeom prst="rect">
            <a:avLst/>
          </a:prstGeom>
        </p:spPr>
      </p:pic>
      <p:pic>
        <p:nvPicPr>
          <p:cNvPr id="5" name="Informe para la alcaldía" descr="/private/tmp/claude-501/-Volumes-CORSAIR-PRINCIPAL-PROYECTOS-PROGRAMACION-Claude-Hackathon-La-plaga-zombie/93a389af-56dd-4742-abd4-b859468bdfc2/scratchpad/pitch/infor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83080"/>
            <a:ext cx="5486400" cy="3086100"/>
          </a:xfrm>
          <a:prstGeom prst="rect">
            <a:avLst/>
          </a:prstGeom>
        </p:spPr>
      </p:pic>
      <p:sp>
        <p:nvSpPr>
          <p:cNvPr id="6" name="Mapa real de Manta círculo"/>
          <p:cNvSpPr/>
          <p:nvPr/>
        </p:nvSpPr>
        <p:spPr>
          <a:xfrm>
            <a:off x="548640" y="52578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Mapa real de Manta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394960"/>
            <a:ext cx="292608" cy="29260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80160" y="5303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Mapa real de Manta</a:t>
            </a:r>
            <a:endParaRPr lang="en-US" sz="1500" dirty="0"/>
          </a:p>
        </p:txBody>
      </p:sp>
      <p:sp>
        <p:nvSpPr>
          <p:cNvPr id="9" name="Curva día a día círculo"/>
          <p:cNvSpPr/>
          <p:nvPr/>
        </p:nvSpPr>
        <p:spPr>
          <a:xfrm>
            <a:off x="3337560" y="52578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Curva día a día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5394960"/>
            <a:ext cx="292608" cy="29260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4069080" y="5303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Curva día a día</a:t>
            </a:r>
            <a:endParaRPr lang="en-US" sz="1500" dirty="0"/>
          </a:p>
        </p:txBody>
      </p:sp>
      <p:sp>
        <p:nvSpPr>
          <p:cNvPr id="12" name="Informe para la alcaldía círculo"/>
          <p:cNvSpPr/>
          <p:nvPr/>
        </p:nvSpPr>
        <p:spPr>
          <a:xfrm>
            <a:off x="6126480" y="52578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nforme para la alcaldía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5394960"/>
            <a:ext cx="292608" cy="29260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858000" y="5303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Informe para la alcaldía</a:t>
            </a:r>
            <a:endParaRPr lang="en-US" sz="1500" dirty="0"/>
          </a:p>
        </p:txBody>
      </p:sp>
      <p:sp>
        <p:nvSpPr>
          <p:cNvPr id="15" name="Zombi, gripe y dengue círculo"/>
          <p:cNvSpPr/>
          <p:nvPr/>
        </p:nvSpPr>
        <p:spPr>
          <a:xfrm>
            <a:off x="8915400" y="52578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Zombi, gripe y dengue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5394960"/>
            <a:ext cx="292608" cy="292608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9646920" y="5303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Zombi, gripe y dengue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ARQUITECTURA Y COSTOS</a:t>
            </a:r>
            <a:endParaRPr lang="en-US" sz="1300" dirty="0"/>
          </a:p>
        </p:txBody>
      </p:sp>
      <p:sp>
        <p:nvSpPr>
          <p:cNvPr id="3" name="Título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Serverless en AWS, casi gratis</a:t>
            </a:r>
            <a:endParaRPr lang="en-US" sz="3600" dirty="0"/>
          </a:p>
        </p:txBody>
      </p:sp>
      <p:sp>
        <p:nvSpPr>
          <p:cNvPr id="4" name="Fondo del diagrama"/>
          <p:cNvSpPr/>
          <p:nvPr/>
        </p:nvSpPr>
        <p:spPr>
          <a:xfrm>
            <a:off x="548640" y="1783080"/>
            <a:ext cx="694944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Diagrama de arquitectura" descr="/private/tmp/claude-501/-Volumes-CORSAIR-PRINCIPAL-PROYECTOS-PROGRAMACION-Claude-Hackathon-La-plaga-zombie/93a389af-56dd-4742-abd4-b859468bdfc2/scratchpad/pitch/ar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6675120" cy="3886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USD 0,001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 consulta de 200 simulaciones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971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USD 0,90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 mes con 1.000 consultas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USD 0,00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709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gastado durante el evento (AWS Budgets)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5349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Sin llaves en el código · permisos mínimos · límite de peticiones · Budget con alerta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manecer en Manta" descr="/private/tmp/claude-501/-Volumes-CORSAIR-PRINCIPAL-PROYECTOS-PROGRAMACION-Claude-Hackathon-La-plaga-zombie/93a389af-56dd-4742-abd4-b859468bdfc2/scratchpad/pitch/7_amanece_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ombra sobre la fot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AHORA DECIDEN USTEDES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783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Manta sigue en pie</a:t>
            </a:r>
            <a:endParaRPr lang="en-US" sz="5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971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Elijan una semilla y un Brote Sorpresa: lo corremos en vivo.</a:t>
            </a:r>
            <a:endParaRPr lang="en-US" sz="2200" dirty="0"/>
          </a:p>
        </p:txBody>
      </p:sp>
      <p:sp>
        <p:nvSpPr>
          <p:cNvPr id="7" name="d3op4ankgl1i6w.cloudfront.net círculo"/>
          <p:cNvSpPr/>
          <p:nvPr/>
        </p:nvSpPr>
        <p:spPr>
          <a:xfrm>
            <a:off x="731520" y="42062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d3op4ankgl1i6w.cloudfront.net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343400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42519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d3op4ankgl1i6w.cloudfront.net</a:t>
            </a:r>
            <a:endParaRPr lang="en-US" sz="2000" dirty="0"/>
          </a:p>
        </p:txBody>
      </p:sp>
      <p:sp>
        <p:nvSpPr>
          <p:cNvPr id="10" name="github.com/JJJ246/Invasi-n-zombi círculo"/>
          <p:cNvSpPr/>
          <p:nvPr/>
        </p:nvSpPr>
        <p:spPr>
          <a:xfrm>
            <a:off x="731520" y="4983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github.com/JJJ246/Invasi-n-zombi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12064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502920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github.com/JJJ246/Invasi-n-zombi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che en Manta">
  <a:themeElements>
    <a:clrScheme name="Noche en Manta">
      <a:dk1>
        <a:srgbClr val="F3EAD8"/>
      </a:dk1>
      <a:lt1>
        <a:srgbClr val="140B1F"/>
      </a:lt1>
      <a:dk2>
        <a:srgbClr val="B7A9C6"/>
      </a:dk2>
      <a:lt2>
        <a:srgbClr val="24163A"/>
      </a:lt2>
      <a:accent1>
        <a:srgbClr val="FF8A1F"/>
      </a:accent1>
      <a:accent2>
        <a:srgbClr val="9CF06B"/>
      </a:accent2>
      <a:accent3>
        <a:srgbClr val="FF5A5F"/>
      </a:accent3>
      <a:accent4>
        <a:srgbClr val="FFC24D"/>
      </a:accent4>
      <a:accent5>
        <a:srgbClr val="7FD3F7"/>
      </a:accent5>
      <a:accent6>
        <a:srgbClr val="C79BFF"/>
      </a:accent6>
      <a:hlink>
        <a:srgbClr val="9CF06B"/>
      </a:hlink>
      <a:folHlink>
        <a:srgbClr val="FFC24D"/>
      </a:folHlink>
    </a:clrScheme>
    <a:fontScheme name="Noche en Manta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Comité de Contención</dc:title>
  <dc:subject>PptxGenJS Presentation</dc:subject>
  <dc:creator>Equipo Natossi</dc:creator>
  <cp:lastModifiedBy>Equipo Natossi</cp:lastModifiedBy>
  <cp:revision>1</cp:revision>
  <dcterms:created xsi:type="dcterms:W3CDTF">2026-10-28T14:13:04Z</dcterms:created>
  <dcterms:modified xsi:type="dcterms:W3CDTF">2026-10-28T14:13:04Z</dcterms:modified>
</cp:coreProperties>
</file>